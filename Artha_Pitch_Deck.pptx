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 (₹)</c:v>
                </c:pt>
              </c:strCache>
            </c:strRef>
          </c:tx>
          <c:spPr>
            <a:solidFill>
              <a:srgbClr val="5B6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84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Declared</c:v>
                  </c:pt>
                  <c:pt idx="1">
                    <c:v>Artha estimate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38417</c:v>
                </c:pt>
                <c:pt idx="1">
                  <c:v>47912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6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Application rate (%), holdout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 rate</c:v>
                </c:pt>
              </c:strCache>
            </c:strRef>
          </c:tx>
          <c:spPr>
            <a:solidFill>
              <a:srgbClr val="5B6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84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 baseline</c:v>
                  </c:pt>
                  <c:pt idx="1">
                    <c:v>Top 20% by intent score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39.8</c:v>
                </c:pt>
                <c:pt idx="1">
                  <c:v>54.5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6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5B6B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84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641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
(all customers)</c:v>
                  </c:pt>
                  <c:pt idx="1">
                    <c:v>Top 20%
by lead score</c:v>
                  </c:pt>
                  <c:pt idx="2">
                    <c:v>Top 10%
by lead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31.1</c:v>
                </c:pt>
                <c:pt idx="1">
                  <c:v>50.8</c:v>
                </c:pt>
                <c:pt idx="2">
                  <c:v>55.8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2E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E7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2E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A5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our-link/artha" TargetMode="External"/><Relationship Id="rId2" Type="http://schemas.openxmlformats.org/officeDocument/2006/relationships/hyperlink" Target="https://your-link.github.io/artha" TargetMode="External"/><Relationship Id="rId3" Type="http://schemas.openxmlformats.org/officeDocument/2006/relationships/hyperlink" Target="https://kaggle.com/datasets/your-link/artha-synthetic-lending-data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B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IDBI INNOVATE 2026 ·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Artha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with purpose, not just probability.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lending intelligence that unifies loan-intent detection and income verification into one explainable score.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 rot="-150000">
            <a:off x="9052560" y="44805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B8842E">
              <a:alpha val="6000"/>
            </a:srgbClr>
          </a:solidFill>
          <a:ln w="25400">
            <a:solidFill>
              <a:srgbClr val="B884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-150000">
            <a:off x="9052560" y="4698187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 rot="-150000">
            <a:off x="9052560" y="544433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TOP-20% CONVERSION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31.1% baseline · backtested on 5,000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a “qualified lead” quietly fails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lead scoring optimizes for a single signal. That creates two failure modes — both counted as “leads”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64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intent, low affordability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loan pages, uses the EMI calculator repeatedly — but actual repayment capacity doesn't support the loan size the RM ends up pitching. Interest, not disbursal.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228600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0760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64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80760" y="2880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affordability, low intent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80760" y="3429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creditworthy on paper — stable salary, clean bureau score — but shows no behavioral signal of wanting to borrow right now. Qualified, but cold outreach.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EFE1C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92040"/>
            <a:ext cx="9464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C6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Artha scores both independently — from transaction and behavior data respectively — then ranks only where the two genuinely intersect.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score, two independent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is estimated from behavior. Affordability is estimated from transactions. Neither alone is a qualified lead.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2148840"/>
            <a:ext cx="3200400" cy="3200400"/>
          </a:xfrm>
          <a:prstGeom prst="ellipse">
            <a:avLst/>
          </a:prstGeom>
          <a:solidFill>
            <a:srgbClr val="B8842E">
              <a:alpha val="22000"/>
            </a:srgbClr>
          </a:solidFill>
          <a:ln w="25400">
            <a:solidFill>
              <a:srgbClr val="B884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148840"/>
            <a:ext cx="3200400" cy="3200400"/>
          </a:xfrm>
          <a:prstGeom prst="ellipse">
            <a:avLst/>
          </a:prstGeom>
          <a:solidFill>
            <a:srgbClr val="1C2B47">
              <a:alpha val="18000"/>
            </a:srgbClr>
          </a:solidFill>
          <a:ln w="25400">
            <a:solidFill>
              <a:srgbClr val="1C2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AFFORDABILITY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32461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2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2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623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log → loan calculator use, product page views, recency, life-event flags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5623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ledger → income stability, EMI burden, bounce events, cash-flow patterns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no LLM calls in the core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parsing and gradient-boosted trees are cheaper at scale and more defensible to a bank's compliance function than a black-box model's reasoning.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master, 18 months of transactions, 6 months of behavioral logs.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703320"/>
            <a:ext cx="256032" cy="0"/>
          </a:xfrm>
          <a:prstGeom prst="line">
            <a:avLst/>
          </a:prstGeom>
          <a:noFill/>
          <a:ln w="31750">
            <a:solidFill>
              <a:srgbClr val="B884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0712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312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39312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narration parser categorizes every transaction. No API calls.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5312" y="3703320"/>
            <a:ext cx="256032" cy="0"/>
          </a:xfrm>
          <a:prstGeom prst="line">
            <a:avLst/>
          </a:prstGeom>
          <a:noFill/>
          <a:ln w="31750">
            <a:solidFill>
              <a:srgbClr val="B884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81344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9944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9944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layer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9944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income model + LightGBM intent model, each with SHAP explainability.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95944" y="3703320"/>
            <a:ext cx="256032" cy="0"/>
          </a:xfrm>
          <a:prstGeom prst="line">
            <a:avLst/>
          </a:prstGeom>
          <a:noFill/>
          <a:ln w="31750">
            <a:solidFill>
              <a:srgbClr val="B884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51976" y="23774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0576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80576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score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80576" y="3520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× affordability × product-fit — ranked, explainable, backtested.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fully documented synthetic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rule is documented and defensible — not arbitrary numbers. Real sandbox data replaces this post-shortlisting.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fully profiled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18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489,663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35040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events, 6 months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7824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tables, 1 dictionary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881360" cy="18288"/>
          </a:xfrm>
          <a:prstGeom prst="rect">
            <a:avLst/>
          </a:prstGeom>
          <a:solidFill>
            <a:srgbClr val="DDD6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REAL-WORLD DATA WE'D INTEGRATE 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consented transaction feed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pull for existing exposure and repayment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 logs from mobile/net banking analytics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loan-origination outcomes for ground-truth labels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verifiable income, applied to the unverifiable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trains only on salaried customers — where declared income is payslip-verifiable — then estimates income for self-employed and business-owner customers from cash-flow behavior alone.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78892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2834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+17.8%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0" y="3401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gap (estimate vs. declared)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4023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52.8%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0" y="4590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 income by more than 15%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2,010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58000" y="57790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/ business customers analyzed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signals, not just demographics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classifier trained on app behavior — calculator use, page views, recency, session depth — to estimate loan-application propensity per product.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SIGNALS DRIVING INTENT (SHAP)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03720" y="2788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login frequency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 duration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views, last 30 days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calculator use, last 30 days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last research activity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0" y="5029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generated from latent scores plus independent noise — the model has to learn genuine patterns, not exploit a leak.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B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BACKTEST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Top-ranked leads convert at nearly double the baseline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 rot="-150000">
            <a:off x="7406640" y="21031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B8842E">
              <a:alpha val="6000"/>
            </a:srgbClr>
          </a:solidFill>
          <a:ln w="25400">
            <a:solidFill>
              <a:srgbClr val="B884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-150000">
            <a:off x="7406640" y="2295144"/>
            <a:ext cx="2194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 rot="-150000">
            <a:off x="7406640" y="29535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 OVER BASELINE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0664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06640" y="4361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backtested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4709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&gt;30%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406640" y="5276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from problem statement — cleared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5897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B9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Backed by an actual backtest, not an assertion.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is auditable — not a black box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generated for all 5,000 scored customers. The same view answers “why is this a great lead” and “why didn't this one qualify” — read the same bars either direction.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SCORE DRIVERS — AFFORDABILITY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calculator use, 30d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3044952"/>
            <a:ext cx="3291840" cy="2194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971800"/>
            <a:ext cx="0" cy="365760"/>
          </a:xfrm>
          <a:prstGeom prst="line">
            <a:avLst/>
          </a:prstGeom>
          <a:noFill/>
          <a:ln w="9525">
            <a:solidFill>
              <a:srgbClr val="5B6B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3044952"/>
            <a:ext cx="1481328" cy="21945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stability index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3611880"/>
            <a:ext cx="3291840" cy="2194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3538728"/>
            <a:ext cx="0" cy="365760"/>
          </a:xfrm>
          <a:prstGeom prst="line">
            <a:avLst/>
          </a:prstGeom>
          <a:noFill/>
          <a:ln w="9525">
            <a:solidFill>
              <a:srgbClr val="5B6B8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611880"/>
            <a:ext cx="987552" cy="21945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538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05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tenure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4178808"/>
            <a:ext cx="3291840" cy="2194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4105656"/>
            <a:ext cx="0" cy="365760"/>
          </a:xfrm>
          <a:prstGeom prst="line">
            <a:avLst/>
          </a:prstGeom>
          <a:noFill/>
          <a:ln w="9525">
            <a:solidFill>
              <a:srgbClr val="5B6B8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78808"/>
            <a:ext cx="329184" cy="21945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41056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6725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EMI burden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4745736"/>
            <a:ext cx="3291840" cy="2194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4672584"/>
            <a:ext cx="0" cy="365760"/>
          </a:xfrm>
          <a:prstGeom prst="line">
            <a:avLst/>
          </a:prstGeom>
          <a:noFill/>
          <a:ln w="9525">
            <a:solidFill>
              <a:srgbClr val="5B6B85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41848" y="4745736"/>
            <a:ext cx="576072" cy="219456"/>
          </a:xfrm>
          <a:prstGeom prst="rect">
            <a:avLst/>
          </a:prstGeom>
          <a:solidFill>
            <a:srgbClr val="A6493C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46725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4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239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Bounced transactions, 90d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0" y="5312664"/>
            <a:ext cx="3291840" cy="2194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5239512"/>
            <a:ext cx="0" cy="365760"/>
          </a:xfrm>
          <a:prstGeom prst="line">
            <a:avLst/>
          </a:prstGeom>
          <a:noFill/>
          <a:ln w="9525">
            <a:solidFill>
              <a:srgbClr val="5B6B85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88736" y="5312664"/>
            <a:ext cx="329184" cy="219456"/>
          </a:xfrm>
          <a:prstGeom prst="rect">
            <a:avLst/>
          </a:prstGeom>
          <a:solidFill>
            <a:srgbClr val="A6493C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52395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4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 — ranked leads, plain-English queries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work from a single screen: ranked leads with score breakdowns, plus a free natural-language query panel.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solidFill>
            <a:srgbClr val="1C2B4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76856"/>
            <a:ext cx="118872" cy="118872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276856"/>
            <a:ext cx="118872" cy="118872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276856"/>
            <a:ext cx="118872" cy="118872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2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artha_rm_dashboard.html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697480"/>
            <a:ext cx="10241280" cy="1371600"/>
          </a:xfrm>
          <a:prstGeom prst="roundRect">
            <a:avLst>
              <a:gd name="adj" fmla="val 4000"/>
            </a:avLst>
          </a:prstGeom>
          <a:solidFill>
            <a:srgbClr val="1C2B4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Ready — free local model (MiniLM), runs in your browser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88720" y="3154680"/>
            <a:ext cx="5760720" cy="365760"/>
          </a:xfrm>
          <a:prstGeom prst="roundRect">
            <a:avLst>
              <a:gd name="adj" fmla="val 15000"/>
            </a:avLst>
          </a:prstGeom>
          <a:solidFill>
            <a:srgbClr val="B8842E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home loan leads for self-employed customers under 40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34 matching leads. Showing top 3 of 10: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4297680"/>
          <a:ext cx="9784080" cy="1371600"/>
        </p:xfrm>
        <a:graphic>
          <a:graphicData uri="http://schemas.openxmlformats.org/drawingml/2006/table">
            <a:tbl>
              <a:tblPr/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Afford.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A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Est. income/mo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CUST003651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71%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₹243,787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CUST001842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₹198,203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CUST004410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₹176,540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 for the bank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solidFill>
            <a:srgbClr val="EFE1C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lift in top-ranked lead conversion — fewer wasted RM calls, more disbursals per outreach cycle.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103120"/>
            <a:ext cx="457200" cy="457200"/>
          </a:xfrm>
          <a:prstGeom prst="rect">
            <a:avLst/>
          </a:prstGeom>
          <a:solidFill>
            <a:srgbClr val="EFE1C4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32004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systematic income understatement for self-employed customers before it affects loan sizing.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92824" y="2103120"/>
            <a:ext cx="457200" cy="457200"/>
          </a:xfrm>
          <a:prstGeom prst="rect">
            <a:avLst/>
          </a:prstGeom>
          <a:solidFill>
            <a:srgbClr val="EFE1C4"/>
          </a:solidFill>
          <a:ln/>
        </p:spPr>
      </p:sp>
      <p:sp>
        <p:nvSpPr>
          <p:cNvPr id="16" name="Text 14"/>
          <p:cNvSpPr/>
          <p:nvPr/>
        </p:nvSpPr>
        <p:spPr>
          <a:xfrm>
            <a:off x="659282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92824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824" y="32004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explanations make every score auditable to risk and compliance — not a black box.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54896" y="2103120"/>
            <a:ext cx="457200" cy="457200"/>
          </a:xfrm>
          <a:prstGeom prst="rect">
            <a:avLst/>
          </a:prstGeom>
          <a:solidFill>
            <a:srgbClr val="EFE1C4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54896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efficiency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54896" y="32004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explainable leads mean RMs spend time where intent and affordability already align.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methodology demonstration, not a finished product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7452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Aggregator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simulated transaction feed with IDBI's actual consented data pipeline.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106070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38328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3337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data 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3337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behavioral/transactional scoring with real credit bureau inputs for a fuller risk picture.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106070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617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17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7452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GenAI-assisted explanation notes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SHAP output into plain-English underwriting notes for RMs, once the numeric pipeline is validated on real data.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532120"/>
            <a:ext cx="10607040" cy="0"/>
          </a:xfrm>
          <a:prstGeom prst="line">
            <a:avLst/>
          </a:prstGeom>
          <a:noFill/>
          <a:ln w="12700">
            <a:solidFill>
              <a:srgbClr val="DDD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 THE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could build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what would sharpen the story most, not just what's easiest to add.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Portfolio-level impact 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expected disbursal value and product mix across all top-ranked leads — not just individual scores, but the business number an executive cares about.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331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331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27249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Old-way vs. Artha comparison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63640" y="31546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customers, side-by-side backtest against a traditional declared-income + bureau-score ranking — makes the 63% lift visceral, not abstract.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891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89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47823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&amp; drift view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calibration and income-stability distributions over time — signals governance thinking, not just a one-off prediction.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6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3891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FE1C4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4389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AMBITIOUS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478231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 for the console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63640" y="5212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natural-language queries via the browser's built-in speech API — no extra model or cost, just a mic icon.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ARTHA · IDBI INNOVATE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Artha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with purpose, not just probability.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4505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IDBI Innovate 2026 · Shuchismita Mallick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53996" y="3383280"/>
            <a:ext cx="7680960" cy="18288"/>
          </a:xfrm>
          <a:prstGeom prst="rect">
            <a:avLst/>
          </a:prstGeom>
          <a:solidFill>
            <a:srgbClr val="3A4E75"/>
          </a:solidFill>
          <a:ln/>
        </p:spPr>
      </p:sp>
      <p:sp>
        <p:nvSpPr>
          <p:cNvPr id="6" name="Text 4"/>
          <p:cNvSpPr/>
          <p:nvPr/>
        </p:nvSpPr>
        <p:spPr>
          <a:xfrm>
            <a:off x="2253996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D9B9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53996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2253996" y="42793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github.com/&lt;your-username&gt;/artha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53996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(GitHub Pages)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2253996" y="4937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&lt;your-username&gt;.github.io/artha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53996" y="5340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(Kaggle)</a:t>
            </a:r>
            <a:endParaRPr lang="en-US" sz="12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2253996" y="55961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B88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kaggle.com/datasets/&lt;your-username&gt;/artha-synthetic-lending-data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0" y="60899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(placeholders above — replace with your actual links before submitting)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 — Retail Lending Intelligence</dc:title>
  <dc:subject>PptxGenJS Presentation</dc:subject>
  <dc:creator>Shuchismita Mallick</dc:creator>
  <cp:lastModifiedBy>Shuchismita Mallick</cp:lastModifiedBy>
  <cp:revision>1</cp:revision>
  <dcterms:created xsi:type="dcterms:W3CDTF">2026-07-07T10:25:22Z</dcterms:created>
  <dcterms:modified xsi:type="dcterms:W3CDTF">2026-07-07T10:25:22Z</dcterms:modified>
</cp:coreProperties>
</file>